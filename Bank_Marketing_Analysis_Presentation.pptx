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 Marketing Campaign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Methods and Results of Three Classification Problems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1. Optimal Call Count: How many calls does it take for success? When should we stop calling?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2. Client Segmentation: Can we classify clients into high-response and low-response groups?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3. Feature Importance: Which features best predict term deposit subscription?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Question 1: Optimal Call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Methods:</a:t>
            </a:r>
          </a:p>
          <a:p>
            <a:pPr>
              <a:spcBef>
                <a:spcPts val="600"/>
              </a:spcBef>
              <a:defRPr sz="1600"/>
            </a:pPr>
            <a:r>
              <a:t>• Exploratory Data Analysis</a:t>
            </a:r>
          </a:p>
          <a:p>
            <a:pPr>
              <a:spcBef>
                <a:spcPts val="600"/>
              </a:spcBef>
              <a:defRPr sz="1600"/>
            </a:pPr>
            <a:r>
              <a:t>  - Conversion rate by call count</a:t>
            </a:r>
          </a:p>
          <a:p>
            <a:pPr>
              <a:spcBef>
                <a:spcPts val="600"/>
              </a:spcBef>
              <a:defRPr sz="1600"/>
            </a:pPr>
            <a:r>
              <a:t>  - Peak detection analysis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• Logistic Regression</a:t>
            </a:r>
          </a:p>
          <a:p>
            <a:pPr>
              <a:spcBef>
                <a:spcPts val="600"/>
              </a:spcBef>
              <a:defRPr sz="1600"/>
            </a:pPr>
            <a:r>
              <a:t>  - Binary classification (yes/no)</a:t>
            </a:r>
          </a:p>
          <a:p>
            <a:pPr>
              <a:spcBef>
                <a:spcPts val="600"/>
              </a:spcBef>
              <a:defRPr sz="1600"/>
            </a:pPr>
            <a:r>
              <a:t>  - Balanced class weights</a:t>
            </a:r>
          </a:p>
          <a:p>
            <a:pPr>
              <a:spcBef>
                <a:spcPts val="600"/>
              </a:spcBef>
              <a:defRPr sz="1600"/>
            </a:pPr>
            <a:r>
              <a:t>  - Probability estimation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• Polynomial Regression (degree 3)</a:t>
            </a:r>
          </a:p>
          <a:p>
            <a:pPr>
              <a:spcBef>
                <a:spcPts val="600"/>
              </a:spcBef>
              <a:defRPr sz="1600"/>
            </a:pPr>
            <a:r>
              <a:t>  - Captures non-linear patterns</a:t>
            </a:r>
          </a:p>
          <a:p>
            <a:pPr>
              <a:spcBef>
                <a:spcPts val="600"/>
              </a:spcBef>
              <a:defRPr sz="1600"/>
            </a:pPr>
            <a:r>
              <a:t>  - Models rise-peak-decline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Results:</a:t>
            </a:r>
          </a:p>
          <a:p>
            <a:pPr>
              <a:spcBef>
                <a:spcPts val="600"/>
              </a:spcBef>
              <a:defRPr sz="1600"/>
            </a:pPr>
            <a:r>
              <a:t>• Peak conversion: 13.04% at 1 call</a:t>
            </a:r>
          </a:p>
          <a:p>
            <a:pPr>
              <a:spcBef>
                <a:spcPts val="600"/>
              </a:spcBef>
              <a:defRPr sz="1600"/>
            </a:pPr>
            <a:r>
              <a:t>• Average for success: 2.6 calls</a:t>
            </a:r>
          </a:p>
          <a:p>
            <a:pPr>
              <a:spcBef>
                <a:spcPts val="600"/>
              </a:spcBef>
              <a:defRPr sz="1600"/>
            </a:pPr>
            <a:r>
              <a:t>• Diminishing returns after 3-4 calls</a:t>
            </a:r>
          </a:p>
          <a:p>
            <a:pPr>
              <a:spcBef>
                <a:spcPts val="600"/>
              </a:spcBef>
              <a:defRPr sz="1600"/>
            </a:pPr>
            <a:r>
              <a:t>• &lt;1% conversion after 7-8 calls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Key Insight:</a:t>
            </a:r>
          </a:p>
          <a:p>
            <a:pPr>
              <a:spcBef>
                <a:spcPts val="600"/>
              </a:spcBef>
              <a:defRPr sz="1600"/>
            </a:pPr>
            <a:r>
              <a:t>First contact is most effective. Stop calling after 3-4 unsuccessful attempts to optimize resources.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Question 2: Client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Methods:</a:t>
            </a:r>
          </a:p>
          <a:p>
            <a:pPr>
              <a:spcBef>
                <a:spcPts val="600"/>
              </a:spcBef>
              <a:defRPr sz="1600"/>
            </a:pPr>
            <a:r>
              <a:t>• Logistic Regression</a:t>
            </a:r>
          </a:p>
          <a:p>
            <a:pPr>
              <a:spcBef>
                <a:spcPts val="600"/>
              </a:spcBef>
              <a:defRPr sz="1600"/>
            </a:pPr>
            <a:r>
              <a:t>  - One-hot encoding for categorical</a:t>
            </a:r>
          </a:p>
          <a:p>
            <a:pPr>
              <a:spcBef>
                <a:spcPts val="600"/>
              </a:spcBef>
              <a:defRPr sz="1600"/>
            </a:pPr>
            <a:r>
              <a:t>  - Balanced class weights (11% yes, 89% no)</a:t>
            </a:r>
          </a:p>
          <a:p>
            <a:pPr>
              <a:spcBef>
                <a:spcPts val="600"/>
              </a:spcBef>
              <a:defRPr sz="1600"/>
            </a:pPr>
            <a:r>
              <a:t>  - Removed 'duration' (data leakage)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• Comparative Models:</a:t>
            </a:r>
          </a:p>
          <a:p>
            <a:pPr>
              <a:spcBef>
                <a:spcPts val="600"/>
              </a:spcBef>
              <a:defRPr sz="1600"/>
            </a:pPr>
            <a:r>
              <a:t>  - K-Nearest Neighbors</a:t>
            </a:r>
          </a:p>
          <a:p>
            <a:pPr>
              <a:spcBef>
                <a:spcPts val="600"/>
              </a:spcBef>
              <a:defRPr sz="1600"/>
            </a:pPr>
            <a:r>
              <a:t>  - Decision Tree</a:t>
            </a:r>
          </a:p>
          <a:p>
            <a:pPr>
              <a:spcBef>
                <a:spcPts val="600"/>
              </a:spcBef>
              <a:defRPr sz="1600"/>
            </a:pPr>
            <a:r>
              <a:t>  - Gaussian Naive Bayes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Why Logistic Regression?</a:t>
            </a:r>
          </a:p>
          <a:p>
            <a:pPr>
              <a:spcBef>
                <a:spcPts val="600"/>
              </a:spcBef>
              <a:defRPr sz="1600"/>
            </a:pPr>
            <a:r>
              <a:t>• Interpretable probabilities</a:t>
            </a:r>
          </a:p>
          <a:p>
            <a:pPr>
              <a:spcBef>
                <a:spcPts val="600"/>
              </a:spcBef>
              <a:defRPr sz="1600"/>
            </a:pPr>
            <a:r>
              <a:t>• Handles mixed data types</a:t>
            </a:r>
          </a:p>
          <a:p>
            <a:pPr>
              <a:spcBef>
                <a:spcPts val="600"/>
              </a:spcBef>
              <a:defRPr sz="1600"/>
            </a:pPr>
            <a:r>
              <a:t>• Fast and reliable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Results:</a:t>
            </a:r>
          </a:p>
          <a:p>
            <a:pPr>
              <a:spcBef>
                <a:spcPts val="600"/>
              </a:spcBef>
              <a:defRPr sz="1600"/>
            </a:pPr>
            <a:r>
              <a:t>• ROC-AUC: 0.798</a:t>
            </a:r>
          </a:p>
          <a:p>
            <a:pPr>
              <a:spcBef>
                <a:spcPts val="600"/>
              </a:spcBef>
              <a:defRPr sz="1600"/>
            </a:pPr>
            <a:r>
              <a:t>• Recall: 64-70% (capture most opportunities)</a:t>
            </a:r>
          </a:p>
          <a:p>
            <a:pPr>
              <a:spcBef>
                <a:spcPts val="600"/>
              </a:spcBef>
              <a:defRPr sz="1600"/>
            </a:pPr>
            <a:r>
              <a:t>• Precision: 36% (3x better than random)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Business Impact:</a:t>
            </a:r>
          </a:p>
          <a:p>
            <a:pPr>
              <a:spcBef>
                <a:spcPts val="600"/>
              </a:spcBef>
              <a:defRPr sz="1600"/>
            </a:pPr>
            <a:r>
              <a:t>• Reduce call volume by 60-70%</a:t>
            </a:r>
          </a:p>
          <a:p>
            <a:pPr>
              <a:spcBef>
                <a:spcPts val="600"/>
              </a:spcBef>
              <a:defRPr sz="1600"/>
            </a:pPr>
            <a:r>
              <a:t>• Maintain 70% of potential revenue</a:t>
            </a:r>
          </a:p>
          <a:p>
            <a:pPr>
              <a:spcBef>
                <a:spcPts val="600"/>
              </a:spcBef>
              <a:defRPr sz="1600"/>
            </a:pPr>
            <a:r>
              <a:t>• 3x improvement in efficiency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Key Insight:</a:t>
            </a:r>
          </a:p>
          <a:p>
            <a:pPr>
              <a:spcBef>
                <a:spcPts val="600"/>
              </a:spcBef>
              <a:defRPr sz="1600"/>
            </a:pPr>
            <a:r>
              <a:t>High recall prioritized to avoid missing sales. Model enables smart targeting.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Question 3: 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Feature Selection Methods:</a:t>
            </a:r>
          </a:p>
          <a:p>
            <a:pPr>
              <a:spcBef>
                <a:spcPts val="600"/>
              </a:spcBef>
              <a:defRPr sz="1600"/>
            </a:pPr>
            <a:r>
              <a:t>• Correlation Analysis</a:t>
            </a:r>
          </a:p>
          <a:p>
            <a:pPr>
              <a:spcBef>
                <a:spcPts val="600"/>
              </a:spcBef>
              <a:defRPr sz="1600"/>
            </a:pPr>
            <a:r>
              <a:t>• Mutual Information</a:t>
            </a:r>
          </a:p>
          <a:p>
            <a:pPr>
              <a:spcBef>
                <a:spcPts val="600"/>
              </a:spcBef>
              <a:defRPr sz="1600"/>
            </a:pPr>
            <a:r>
              <a:t>• Random Forest Importance</a:t>
            </a:r>
          </a:p>
          <a:p>
            <a:pPr>
              <a:spcBef>
                <a:spcPts val="600"/>
              </a:spcBef>
              <a:defRPr sz="1600"/>
            </a:pPr>
            <a:r>
              <a:t>• Recursive Feature Elimination</a:t>
            </a:r>
          </a:p>
          <a:p>
            <a:pPr>
              <a:spcBef>
                <a:spcPts val="600"/>
              </a:spcBef>
              <a:defRPr sz="1600"/>
            </a:pPr>
            <a:r>
              <a:t>• Gradient Boosting Importance</a:t>
            </a:r>
          </a:p>
          <a:p>
            <a:pPr>
              <a:spcBef>
                <a:spcPts val="600"/>
              </a:spcBef>
              <a:defRPr sz="1600"/>
            </a:pPr>
            <a:r>
              <a:t>• Principal Component Analysis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Why Multiple Methods?</a:t>
            </a:r>
          </a:p>
          <a:p>
            <a:pPr>
              <a:spcBef>
                <a:spcPts val="600"/>
              </a:spcBef>
              <a:defRPr sz="1600"/>
            </a:pPr>
            <a:r>
              <a:t>• Consensus identifies truly important features</a:t>
            </a:r>
          </a:p>
          <a:p>
            <a:pPr>
              <a:spcBef>
                <a:spcPts val="600"/>
              </a:spcBef>
              <a:defRPr sz="1600"/>
            </a:pPr>
            <a:r>
              <a:t>• Reduces overfitting risk</a:t>
            </a:r>
          </a:p>
          <a:p>
            <a:pPr>
              <a:spcBef>
                <a:spcPts val="600"/>
              </a:spcBef>
              <a:defRPr sz="1600"/>
            </a:pPr>
            <a:r>
              <a:t>• Captures different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Top 7 Features Selected:</a:t>
            </a:r>
          </a:p>
          <a:p>
            <a:pPr>
              <a:spcBef>
                <a:spcPts val="600"/>
              </a:spcBef>
              <a:defRPr sz="1600"/>
            </a:pPr>
            <a:r>
              <a:t>1. euribor3m (economic)</a:t>
            </a:r>
          </a:p>
          <a:p>
            <a:pPr>
              <a:spcBef>
                <a:spcPts val="600"/>
              </a:spcBef>
              <a:defRPr sz="1600"/>
            </a:pPr>
            <a:r>
              <a:t>2. age (demographic)</a:t>
            </a:r>
          </a:p>
          <a:p>
            <a:pPr>
              <a:spcBef>
                <a:spcPts val="600"/>
              </a:spcBef>
              <a:defRPr sz="1600"/>
            </a:pPr>
            <a:r>
              <a:t>3. campaign (contact count)</a:t>
            </a:r>
          </a:p>
          <a:p>
            <a:pPr>
              <a:spcBef>
                <a:spcPts val="600"/>
              </a:spcBef>
              <a:defRPr sz="1600"/>
            </a:pPr>
            <a:r>
              <a:t>4. nr.employed (economic)</a:t>
            </a:r>
          </a:p>
          <a:p>
            <a:pPr>
              <a:spcBef>
                <a:spcPts val="600"/>
              </a:spcBef>
              <a:defRPr sz="1600"/>
            </a:pPr>
            <a:r>
              <a:t>5. pdays (history)</a:t>
            </a:r>
          </a:p>
          <a:p>
            <a:pPr>
              <a:spcBef>
                <a:spcPts val="600"/>
              </a:spcBef>
              <a:defRPr sz="1600"/>
            </a:pPr>
            <a:r>
              <a:t>6. emp.var.rate (economic)</a:t>
            </a:r>
          </a:p>
          <a:p>
            <a:pPr>
              <a:spcBef>
                <a:spcPts val="600"/>
              </a:spcBef>
              <a:defRPr sz="1600"/>
            </a:pPr>
            <a:r>
              <a:t>7. cons.conf.idx (economic)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Pattern:</a:t>
            </a:r>
          </a:p>
          <a:p>
            <a:pPr>
              <a:spcBef>
                <a:spcPts val="600"/>
              </a:spcBef>
              <a:defRPr sz="1600"/>
            </a:pPr>
            <a:r>
              <a:t>Macroeconomic indicators dominate!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3: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Model Comparison (Top 7 Features):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• Gaussian Naive Bayes: AUC 0.877, Recall 73-80% ⭐ BEST</a:t>
            </a:r>
          </a:p>
          <a:p>
            <a:pPr>
              <a:spcBef>
                <a:spcPts val="600"/>
              </a:spcBef>
              <a:defRPr sz="1800"/>
            </a:pPr>
            <a:r>
              <a:t>• Decision Tree: AUC 0.872, Recall 70-75% (most interpretable)</a:t>
            </a:r>
          </a:p>
          <a:p>
            <a:pPr>
              <a:spcBef>
                <a:spcPts val="600"/>
              </a:spcBef>
              <a:defRPr sz="1800"/>
            </a:pPr>
            <a:r>
              <a:t>• K-Nearest Neighbors: AUC 0.876, Recall 68-73%</a:t>
            </a:r>
          </a:p>
          <a:p>
            <a:pPr>
              <a:spcBef>
                <a:spcPts val="600"/>
              </a:spcBef>
              <a:defRPr sz="1800"/>
            </a:pPr>
            <a:r>
              <a:t>• Logistic Regression: AUC 0.730, Recall 50-55%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Key Finding: Simple models with 7 features achieve excellent performance!</a:t>
            </a:r>
          </a:p>
          <a:p>
            <a:pPr>
              <a:spcBef>
                <a:spcPts val="600"/>
              </a:spcBef>
              <a:defRPr sz="1800"/>
            </a:pPr>
            <a:r>
              <a:t>Economic context is the strongest predictor of subscription.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Integrated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1. Quality over Quantity: First contact matters most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2. Economic Timing is Critical: Launch campaigns during favorable conditions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3. Smart Targeting Works: 3x improvement with predictive models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4. Stop Rule: Cease calling after 3-4 unsuccessful attempts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5. Client History Matters: Previous outcomes highly predictive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Pre-Campaign:</a:t>
            </a:r>
          </a:p>
          <a:p>
            <a:pPr>
              <a:spcBef>
                <a:spcPts val="600"/>
              </a:spcBef>
              <a:defRPr sz="1800"/>
            </a:pPr>
            <a:r>
              <a:t>• Score all clients using Naive Bayes model (7 features)</a:t>
            </a:r>
          </a:p>
          <a:p>
            <a:pPr>
              <a:spcBef>
                <a:spcPts val="600"/>
              </a:spcBef>
              <a:defRPr sz="1800"/>
            </a:pPr>
            <a:r>
              <a:t>• Monitor macroeconomic indicators for campaign timing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Execution:</a:t>
            </a:r>
          </a:p>
          <a:p>
            <a:pPr>
              <a:spcBef>
                <a:spcPts val="600"/>
              </a:spcBef>
              <a:defRPr sz="1800"/>
            </a:pPr>
            <a:r>
              <a:t>• Call clients in order of predicted probability</a:t>
            </a:r>
          </a:p>
          <a:p>
            <a:pPr>
              <a:spcBef>
                <a:spcPts val="600"/>
              </a:spcBef>
              <a:defRPr sz="1800"/>
            </a:pPr>
            <a:r>
              <a:t>• Make 1-3 high-quality contacts per client</a:t>
            </a:r>
          </a:p>
          <a:p>
            <a:pPr>
              <a:spcBef>
                <a:spcPts val="600"/>
              </a:spcBef>
              <a:defRPr sz="1800"/>
            </a:pPr>
            <a:r>
              <a:t>• Stop after 3-4 unsuccessful attempts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Expected Impact:</a:t>
            </a:r>
          </a:p>
          <a:p>
            <a:pPr>
              <a:spcBef>
                <a:spcPts val="600"/>
              </a:spcBef>
              <a:defRPr sz="1800"/>
            </a:pPr>
            <a:r>
              <a:t>• 60-70% reduction in call volume</a:t>
            </a:r>
          </a:p>
          <a:p>
            <a:pPr>
              <a:spcBef>
                <a:spcPts val="600"/>
              </a:spcBef>
              <a:defRPr sz="1800"/>
            </a:pPr>
            <a:r>
              <a:t>• Maintain 70-80% of potential subscribers</a:t>
            </a:r>
          </a:p>
          <a:p>
            <a:pPr>
              <a:spcBef>
                <a:spcPts val="600"/>
              </a:spcBef>
              <a:defRPr sz="1800"/>
            </a:pPr>
            <a:r>
              <a:t>• Significant cost savings and better customer experience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Data:</a:t>
            </a:r>
          </a:p>
          <a:p>
            <a:pPr>
              <a:spcBef>
                <a:spcPts val="600"/>
              </a:spcBef>
              <a:defRPr sz="1600"/>
            </a:pPr>
            <a:r>
              <a:t>• 41,000 records</a:t>
            </a:r>
          </a:p>
          <a:p>
            <a:pPr>
              <a:spcBef>
                <a:spcPts val="600"/>
              </a:spcBef>
              <a:defRPr sz="1600"/>
            </a:pPr>
            <a:r>
              <a:t>• 11% yes, 89% no (imbalanced)</a:t>
            </a:r>
          </a:p>
          <a:p>
            <a:pPr>
              <a:spcBef>
                <a:spcPts val="600"/>
              </a:spcBef>
              <a:defRPr sz="1600"/>
            </a:pPr>
            <a:r>
              <a:t>• 80/20 train-test split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Best Practices:</a:t>
            </a:r>
          </a:p>
          <a:p>
            <a:pPr>
              <a:spcBef>
                <a:spcPts val="600"/>
              </a:spcBef>
              <a:defRPr sz="1600"/>
            </a:pPr>
            <a:r>
              <a:t>• Stratified splitting</a:t>
            </a:r>
          </a:p>
          <a:p>
            <a:pPr>
              <a:spcBef>
                <a:spcPts val="600"/>
              </a:spcBef>
              <a:defRPr sz="1600"/>
            </a:pPr>
            <a:r>
              <a:t>• Data leakage prevention</a:t>
            </a:r>
          </a:p>
          <a:p>
            <a:pPr>
              <a:spcBef>
                <a:spcPts val="600"/>
              </a:spcBef>
              <a:defRPr sz="1600"/>
            </a:pPr>
            <a:r>
              <a:t>• Class imbalance handling</a:t>
            </a:r>
          </a:p>
          <a:p>
            <a:pPr>
              <a:spcBef>
                <a:spcPts val="600"/>
              </a:spcBef>
              <a:defRPr sz="1600"/>
            </a:pPr>
            <a:r>
              <a:t>• Multiple validation approaches</a:t>
            </a:r>
          </a:p>
          <a:p>
            <a:pPr>
              <a:spcBef>
                <a:spcPts val="600"/>
              </a:spcBef>
              <a:defRPr sz="1600"/>
            </a:pPr>
            <a:r>
              <a:t>• Feature importance consensus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Key Metrics:</a:t>
            </a:r>
          </a:p>
          <a:p>
            <a:pPr>
              <a:spcBef>
                <a:spcPts val="600"/>
              </a:spcBef>
              <a:defRPr sz="1600"/>
            </a:pPr>
            <a:r>
              <a:t>• Recall prioritized (avoid missing sales)</a:t>
            </a:r>
          </a:p>
          <a:p>
            <a:pPr>
              <a:spcBef>
                <a:spcPts val="600"/>
              </a:spcBef>
              <a:defRPr sz="1600"/>
            </a:pPr>
            <a:r>
              <a:t>• ROC-AUC for model comparison</a:t>
            </a:r>
          </a:p>
          <a:p>
            <a:pPr>
              <a:spcBef>
                <a:spcPts val="600"/>
              </a:spcBef>
              <a:defRPr sz="1600"/>
            </a:pPr>
            <a:r>
              <a:t>• Business-focused interpretation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Models Used:</a:t>
            </a:r>
          </a:p>
          <a:p>
            <a:pPr>
              <a:spcBef>
                <a:spcPts val="600"/>
              </a:spcBef>
              <a:defRPr sz="1600"/>
            </a:pPr>
            <a:r>
              <a:t>• Logistic Regression</a:t>
            </a:r>
          </a:p>
          <a:p>
            <a:pPr>
              <a:spcBef>
                <a:spcPts val="600"/>
              </a:spcBef>
              <a:defRPr sz="1600"/>
            </a:pPr>
            <a:r>
              <a:t>• Polynomial Regression</a:t>
            </a:r>
          </a:p>
          <a:p>
            <a:pPr>
              <a:spcBef>
                <a:spcPts val="600"/>
              </a:spcBef>
              <a:defRPr sz="1600"/>
            </a:pPr>
            <a:r>
              <a:t>• Decision Trees</a:t>
            </a:r>
          </a:p>
          <a:p>
            <a:pPr>
              <a:spcBef>
                <a:spcPts val="600"/>
              </a:spcBef>
              <a:defRPr sz="1600"/>
            </a:pPr>
            <a:r>
              <a:t>• K-Nearest Neighbors</a:t>
            </a:r>
          </a:p>
          <a:p>
            <a:pPr>
              <a:spcBef>
                <a:spcPts val="600"/>
              </a:spcBef>
              <a:defRPr sz="1600"/>
            </a:pPr>
            <a:r>
              <a:t>• Naive Bayes</a:t>
            </a:r>
          </a:p>
          <a:p>
            <a:pPr>
              <a:spcBef>
                <a:spcPts val="600"/>
              </a:spcBef>
              <a:defRPr sz="1600"/>
            </a:pPr>
            <a:r>
              <a:t>• Random Forest</a:t>
            </a:r>
          </a:p>
          <a:p>
            <a:pPr>
              <a:spcBef>
                <a:spcPts val="600"/>
              </a:spcBef>
              <a:defRPr sz="1600"/>
            </a:pPr>
            <a:r>
              <a:t>• Gradient Boosting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1800"/>
            </a:pPr>
            <a:r>
              <a:t>✓ Demonstrated clear optimal calling strategy (1-3 calls)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✓ Built effective client segmentation model (80% AUC)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✓ Identified key predictive features (economic + history + demographics)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✓ Simple models work best - 7 features achieve 87.7% AUC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➤ Ready for deployment: Expected 60-70% cost reduction while maintaining 70-80% of potential revenue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